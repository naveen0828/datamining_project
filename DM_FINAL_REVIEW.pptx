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7" r:id="rId22"/>
    <p:sldId id="279" r:id="rId23"/>
    <p:sldId id="275" r:id="rId24"/>
    <p:sldId id="276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6424" y="318779"/>
            <a:ext cx="2030789" cy="7369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32301" y="445770"/>
            <a:ext cx="3674364" cy="586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569" y="2045335"/>
            <a:ext cx="9248775" cy="2769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2143" y="621735"/>
            <a:ext cx="7495139" cy="9528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83329" y="1524127"/>
            <a:ext cx="3495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</a:rPr>
              <a:t>Final</a:t>
            </a:r>
            <a:r>
              <a:rPr sz="2800" spc="-45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Project</a:t>
            </a:r>
            <a:r>
              <a:rPr sz="2800" spc="-20" dirty="0">
                <a:solidFill>
                  <a:srgbClr val="0000FF"/>
                </a:solidFill>
              </a:rPr>
              <a:t> </a:t>
            </a:r>
            <a:r>
              <a:rPr sz="2800" spc="-30" dirty="0">
                <a:solidFill>
                  <a:srgbClr val="0000FF"/>
                </a:solidFill>
              </a:rPr>
              <a:t>Review-</a:t>
            </a:r>
            <a:r>
              <a:rPr sz="2800" spc="-50" dirty="0">
                <a:solidFill>
                  <a:srgbClr val="0000FF"/>
                </a:solidFill>
              </a:rPr>
              <a:t>3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644753" y="3843253"/>
            <a:ext cx="4344670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299085" algn="l"/>
                <a:tab pos="1778635" algn="l"/>
                <a:tab pos="3557904" algn="l"/>
              </a:tabLst>
            </a:pPr>
            <a:r>
              <a:rPr sz="1800" spc="-10" dirty="0">
                <a:latin typeface="Times New Roman"/>
                <a:cs typeface="Times New Roman"/>
              </a:rPr>
              <a:t>24B11AI109</a:t>
            </a:r>
            <a:r>
              <a:rPr sz="1800" dirty="0">
                <a:latin typeface="Times New Roman"/>
                <a:cs typeface="Times New Roman"/>
              </a:rPr>
              <a:t>	-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Vardhan</a:t>
            </a:r>
            <a:r>
              <a:rPr sz="1800" spc="-25" dirty="0">
                <a:latin typeface="Times New Roman"/>
                <a:cs typeface="Times New Roman"/>
              </a:rPr>
              <a:t> Sai</a:t>
            </a:r>
            <a:r>
              <a:rPr sz="1800" dirty="0">
                <a:latin typeface="Times New Roman"/>
                <a:cs typeface="Times New Roman"/>
              </a:rPr>
              <a:t>	-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AIML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  <a:tab pos="1720850" algn="l"/>
                <a:tab pos="3507740" algn="l"/>
              </a:tabLst>
            </a:pPr>
            <a:r>
              <a:rPr sz="1800" spc="-10" dirty="0">
                <a:latin typeface="Times New Roman"/>
                <a:cs typeface="Times New Roman"/>
              </a:rPr>
              <a:t>24B11AI360</a:t>
            </a:r>
            <a:r>
              <a:rPr sz="1800" dirty="0">
                <a:latin typeface="Times New Roman"/>
                <a:cs typeface="Times New Roman"/>
              </a:rPr>
              <a:t>	-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 </a:t>
            </a:r>
            <a:r>
              <a:rPr sz="1800" spc="-10" dirty="0">
                <a:latin typeface="Times New Roman"/>
                <a:cs typeface="Times New Roman"/>
              </a:rPr>
              <a:t>Naveen</a:t>
            </a:r>
            <a:r>
              <a:rPr sz="1800" dirty="0">
                <a:latin typeface="Times New Roman"/>
                <a:cs typeface="Times New Roman"/>
              </a:rPr>
              <a:t>	-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AIML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753" y="2324227"/>
            <a:ext cx="10132060" cy="1544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5810" algn="ctr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171717"/>
                </a:solidFill>
                <a:latin typeface="Times New Roman"/>
                <a:cs typeface="Times New Roman"/>
              </a:rPr>
              <a:t>MARKET</a:t>
            </a:r>
            <a:r>
              <a:rPr sz="3000" b="1" spc="-3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171717"/>
                </a:solidFill>
                <a:latin typeface="Times New Roman"/>
                <a:cs typeface="Times New Roman"/>
              </a:rPr>
              <a:t>BASKET</a:t>
            </a:r>
            <a:r>
              <a:rPr sz="3000" b="1" spc="-50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171717"/>
                </a:solidFill>
                <a:latin typeface="Times New Roman"/>
                <a:cs typeface="Times New Roman"/>
              </a:rPr>
              <a:t>ANALYSIS</a:t>
            </a:r>
            <a:r>
              <a:rPr sz="3000" b="1" spc="-65" dirty="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171717"/>
                </a:solidFill>
                <a:latin typeface="Times New Roman"/>
                <a:cs typeface="Times New Roman"/>
              </a:rPr>
              <a:t>RECOMMENDATION</a:t>
            </a:r>
            <a:endParaRPr sz="3000">
              <a:latin typeface="Times New Roman"/>
              <a:cs typeface="Times New Roman"/>
            </a:endParaRPr>
          </a:p>
          <a:p>
            <a:pPr marL="769620" algn="ctr">
              <a:lnSpc>
                <a:spcPct val="100000"/>
              </a:lnSpc>
              <a:spcBef>
                <a:spcPts val="2590"/>
              </a:spcBef>
            </a:pPr>
            <a:r>
              <a:rPr sz="1800" b="1" dirty="0">
                <a:solidFill>
                  <a:srgbClr val="C55A11"/>
                </a:solidFill>
                <a:latin typeface="Times New Roman"/>
                <a:cs typeface="Times New Roman"/>
              </a:rPr>
              <a:t>BATCH</a:t>
            </a:r>
            <a:r>
              <a:rPr sz="1800" b="1" spc="-60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55A11"/>
                </a:solidFill>
                <a:latin typeface="Times New Roman"/>
                <a:cs typeface="Times New Roman"/>
              </a:rPr>
              <a:t>NUMBER:</a:t>
            </a:r>
            <a:r>
              <a:rPr sz="1800" b="1" spc="-6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05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2164" y="5169763"/>
            <a:ext cx="3357245" cy="9461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484"/>
              </a:spcBef>
            </a:pPr>
            <a:r>
              <a:rPr sz="1800" b="1" dirty="0">
                <a:latin typeface="Times New Roman"/>
                <a:cs typeface="Times New Roman"/>
              </a:rPr>
              <a:t>Under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esteemed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guidance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of:</a:t>
            </a:r>
            <a:endParaRPr sz="1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380"/>
              </a:spcBef>
            </a:pPr>
            <a:r>
              <a:rPr sz="1800" dirty="0">
                <a:latin typeface="Times New Roman"/>
                <a:cs typeface="Times New Roman"/>
              </a:rPr>
              <a:t>Mr.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.Priyanth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B.Tech,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Assistant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Professor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(AIML)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3222" y="3826763"/>
            <a:ext cx="1506220" cy="84963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imes New Roman"/>
                <a:cs typeface="Times New Roman"/>
              </a:rPr>
              <a:t>24B11AI088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imes New Roman"/>
                <a:cs typeface="Times New Roman"/>
              </a:rPr>
              <a:t>24B11AI091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49793" y="3826763"/>
            <a:ext cx="1085850" cy="84963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10" dirty="0">
                <a:latin typeface="Times New Roman"/>
                <a:cs typeface="Times New Roman"/>
              </a:rPr>
              <a:t> Tilak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10" dirty="0">
                <a:latin typeface="Times New Roman"/>
                <a:cs typeface="Times New Roman"/>
              </a:rPr>
              <a:t> Pardhu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59161" y="3826763"/>
            <a:ext cx="1021715" cy="84963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AIML</a:t>
            </a:r>
            <a:endParaRPr sz="18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AIML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329" y="1277569"/>
            <a:ext cx="13366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Outline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062329" y="1768246"/>
            <a:ext cx="4264660" cy="47097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77495" indent="-269875">
              <a:lnSpc>
                <a:spcPct val="100000"/>
              </a:lnSpc>
              <a:spcBef>
                <a:spcPts val="425"/>
              </a:spcBef>
              <a:buSzPct val="96428"/>
              <a:buAutoNum type="arabicPeriod"/>
              <a:tabLst>
                <a:tab pos="277495" algn="l"/>
              </a:tabLst>
            </a:pP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formulation</a:t>
            </a:r>
            <a:endParaRPr sz="2800">
              <a:latin typeface="Times New Roman"/>
              <a:cs typeface="Times New Roman"/>
            </a:endParaRPr>
          </a:p>
          <a:p>
            <a:pPr marL="277495" indent="-269875">
              <a:lnSpc>
                <a:spcPct val="100000"/>
              </a:lnSpc>
              <a:spcBef>
                <a:spcPts val="320"/>
              </a:spcBef>
              <a:buSzPct val="96428"/>
              <a:buAutoNum type="arabicPeriod"/>
              <a:tabLst>
                <a:tab pos="277495" algn="l"/>
              </a:tabLst>
            </a:pP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Definition</a:t>
            </a:r>
            <a:endParaRPr sz="2800">
              <a:latin typeface="Times New Roman"/>
              <a:cs typeface="Times New Roman"/>
            </a:endParaRPr>
          </a:p>
          <a:p>
            <a:pPr marL="278765" indent="-269875">
              <a:lnSpc>
                <a:spcPct val="100000"/>
              </a:lnSpc>
              <a:spcBef>
                <a:spcPts val="340"/>
              </a:spcBef>
              <a:buSzPct val="96428"/>
              <a:buAutoNum type="arabicPeriod"/>
              <a:tabLst>
                <a:tab pos="278765" algn="l"/>
              </a:tabLst>
            </a:pPr>
            <a:r>
              <a:rPr sz="2800" dirty="0">
                <a:latin typeface="Times New Roman"/>
                <a:cs typeface="Times New Roman"/>
              </a:rPr>
              <a:t>Literature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review</a:t>
            </a:r>
            <a:endParaRPr sz="2800">
              <a:latin typeface="Times New Roman"/>
              <a:cs typeface="Times New Roman"/>
            </a:endParaRPr>
          </a:p>
          <a:p>
            <a:pPr marL="12700" marR="1859280" indent="-3810">
              <a:lnSpc>
                <a:spcPct val="109600"/>
              </a:lnSpc>
              <a:buSzPct val="96428"/>
              <a:buAutoNum type="arabicPeriod"/>
              <a:tabLst>
                <a:tab pos="278765" algn="l"/>
              </a:tabLst>
            </a:pPr>
            <a:r>
              <a:rPr sz="2800" dirty="0">
                <a:latin typeface="Times New Roman"/>
                <a:cs typeface="Times New Roman"/>
              </a:rPr>
              <a:t>	Research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Gaps </a:t>
            </a:r>
            <a:r>
              <a:rPr sz="2800" spc="-10" dirty="0">
                <a:latin typeface="Times New Roman"/>
                <a:cs typeface="Times New Roman"/>
              </a:rPr>
              <a:t>5.Objectives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9700"/>
              </a:lnSpc>
              <a:spcBef>
                <a:spcPts val="10"/>
              </a:spcBef>
            </a:pPr>
            <a:r>
              <a:rPr sz="2800" spc="-10" dirty="0">
                <a:latin typeface="Times New Roman"/>
                <a:cs typeface="Times New Roman"/>
              </a:rPr>
              <a:t>6.Methodology </a:t>
            </a:r>
            <a:r>
              <a:rPr sz="2800" dirty="0">
                <a:latin typeface="Times New Roman"/>
                <a:cs typeface="Times New Roman"/>
              </a:rPr>
              <a:t>7.Technological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requirements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800" dirty="0">
                <a:latin typeface="Times New Roman"/>
                <a:cs typeface="Times New Roman"/>
              </a:rPr>
              <a:t>8.Expected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outcome</a:t>
            </a:r>
            <a:endParaRPr sz="2800">
              <a:latin typeface="Times New Roman"/>
              <a:cs typeface="Times New Roman"/>
            </a:endParaRPr>
          </a:p>
          <a:p>
            <a:pPr marL="12700" marR="2134870">
              <a:lnSpc>
                <a:spcPct val="109600"/>
              </a:lnSpc>
              <a:spcBef>
                <a:spcPts val="15"/>
              </a:spcBef>
            </a:pPr>
            <a:r>
              <a:rPr sz="2800" spc="-10" dirty="0">
                <a:latin typeface="Times New Roman"/>
                <a:cs typeface="Times New Roman"/>
              </a:rPr>
              <a:t>9.Conclusion 10.References.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4788" y="1399158"/>
            <a:ext cx="310070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Problem</a:t>
            </a:r>
            <a:r>
              <a:rPr sz="2600" spc="-40" dirty="0"/>
              <a:t> </a:t>
            </a:r>
            <a:r>
              <a:rPr sz="2600" spc="-10" dirty="0"/>
              <a:t>Formulation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1224788" y="2187321"/>
            <a:ext cx="10245725" cy="4123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Market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Basket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(MBA)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mining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technique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identify</a:t>
            </a:r>
            <a:endParaRPr sz="24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70000"/>
              </a:lnSpc>
            </a:pPr>
            <a:r>
              <a:rPr sz="2400" dirty="0">
                <a:latin typeface="Times New Roman"/>
                <a:cs typeface="Times New Roman"/>
              </a:rPr>
              <a:t>relationships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among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items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purchased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together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transactional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database.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formulated  by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analyzing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  transactions  to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discover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frequent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70000"/>
              </a:lnSpc>
            </a:pPr>
            <a:r>
              <a:rPr sz="2400" dirty="0">
                <a:latin typeface="Times New Roman"/>
                <a:cs typeface="Times New Roman"/>
              </a:rPr>
              <a:t>itemsets</a:t>
            </a:r>
            <a:r>
              <a:rPr sz="2400" spc="5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</a:t>
            </a:r>
            <a:r>
              <a:rPr sz="2400" spc="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above</a:t>
            </a:r>
            <a:r>
              <a:rPr sz="2400" spc="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specified</a:t>
            </a:r>
            <a:r>
              <a:rPr sz="2400" spc="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minimum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threshold.</a:t>
            </a:r>
            <a:r>
              <a:rPr sz="2400" spc="5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these </a:t>
            </a:r>
            <a:r>
              <a:rPr sz="2400" dirty="0">
                <a:latin typeface="Times New Roman"/>
                <a:cs typeface="Times New Roman"/>
              </a:rPr>
              <a:t>itemsets,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association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rules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form  </a:t>
            </a:r>
            <a:r>
              <a:rPr sz="2400" dirty="0">
                <a:latin typeface="Cambria Math"/>
                <a:cs typeface="Cambria Math"/>
              </a:rPr>
              <a:t>𝑋</a:t>
            </a:r>
            <a:r>
              <a:rPr sz="2400" spc="20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𝑌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generated,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ambria Math"/>
                <a:cs typeface="Cambria Math"/>
              </a:rPr>
              <a:t>𝑋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Cambria Math"/>
                <a:cs typeface="Cambria Math"/>
              </a:rPr>
              <a:t>𝑌</a:t>
            </a:r>
            <a:r>
              <a:rPr sz="2400" spc="-20" dirty="0">
                <a:latin typeface="Times New Roman"/>
                <a:cs typeface="Times New Roman"/>
              </a:rPr>
              <a:t>are </a:t>
            </a:r>
            <a:r>
              <a:rPr sz="2400" dirty="0">
                <a:latin typeface="Times New Roman"/>
                <a:cs typeface="Times New Roman"/>
              </a:rPr>
              <a:t>disjoint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subsets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items.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strength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rules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evaluated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measures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confidence,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lift.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7342" y="1156207"/>
            <a:ext cx="10193020" cy="45161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400" b="1" dirty="0">
                <a:latin typeface="Times New Roman"/>
                <a:cs typeface="Times New Roman"/>
              </a:rPr>
              <a:t>Problem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Definition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1100"/>
              </a:spcBef>
              <a:buSzPct val="75000"/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Market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Basket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relationships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among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items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transactional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 items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purchased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together.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ts val="2735"/>
              </a:lnSpc>
              <a:spcBef>
                <a:spcPts val="670"/>
              </a:spcBef>
              <a:buSzPct val="75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frequent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itemsets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minimum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threshold.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ts val="3155"/>
              </a:lnSpc>
              <a:spcBef>
                <a:spcPts val="620"/>
              </a:spcBef>
              <a:buSzPct val="75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itemsets,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association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rules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mbria Math"/>
                <a:cs typeface="Cambria Math"/>
              </a:rPr>
              <a:t>𝑋</a:t>
            </a:r>
            <a:r>
              <a:rPr sz="2800" spc="2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⇒</a:t>
            </a:r>
            <a:r>
              <a:rPr sz="2800" spc="16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𝑌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generated,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where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3155"/>
              </a:lnSpc>
            </a:pPr>
            <a:r>
              <a:rPr sz="2800" dirty="0">
                <a:latin typeface="Cambria Math"/>
                <a:cs typeface="Cambria Math"/>
              </a:rPr>
              <a:t>𝑋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mbria Math"/>
                <a:cs typeface="Cambria Math"/>
              </a:rPr>
              <a:t>𝑌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disjoint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items.</a:t>
            </a:r>
            <a:endParaRPr sz="2400">
              <a:latin typeface="Times New Roman"/>
              <a:cs typeface="Times New Roman"/>
            </a:endParaRPr>
          </a:p>
          <a:p>
            <a:pPr marL="355600" marR="1429385" indent="-342900">
              <a:lnSpc>
                <a:spcPts val="2590"/>
              </a:lnSpc>
              <a:spcBef>
                <a:spcPts val="1019"/>
              </a:spcBef>
              <a:buSzPct val="75000"/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strength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support, </a:t>
            </a:r>
            <a:r>
              <a:rPr sz="2400" b="1" dirty="0">
                <a:latin typeface="Times New Roman"/>
                <a:cs typeface="Times New Roman"/>
              </a:rPr>
              <a:t>confidence,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lift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minimum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thresholds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applied.</a:t>
            </a:r>
            <a:endParaRPr sz="2400">
              <a:latin typeface="Times New Roman"/>
              <a:cs typeface="Times New Roman"/>
            </a:endParaRPr>
          </a:p>
          <a:p>
            <a:pPr marL="355600" marR="88265" indent="-342900">
              <a:lnSpc>
                <a:spcPts val="2590"/>
              </a:lnSpc>
              <a:spcBef>
                <a:spcPts val="1010"/>
              </a:spcBef>
              <a:buSzPct val="75000"/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objective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discover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useful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decision-making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placement,</a:t>
            </a:r>
            <a:r>
              <a:rPr sz="2400" spc="-10" dirty="0">
                <a:latin typeface="Times New Roman"/>
                <a:cs typeface="Times New Roman"/>
              </a:rPr>
              <a:t> cross-</a:t>
            </a:r>
            <a:r>
              <a:rPr sz="2400" dirty="0">
                <a:latin typeface="Times New Roman"/>
                <a:cs typeface="Times New Roman"/>
              </a:rPr>
              <a:t>selling,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recommendations.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313" y="1296729"/>
            <a:ext cx="11096498" cy="54749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7467" rIns="0" bIns="0" rtlCol="0">
            <a:spAutoFit/>
          </a:bodyPr>
          <a:lstStyle/>
          <a:p>
            <a:pPr marL="104711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275" dirty="0"/>
              <a:t> </a:t>
            </a:r>
            <a:r>
              <a:rPr spc="-10" dirty="0"/>
              <a:t>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102686"/>
            <a:ext cx="10243820" cy="517144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200" b="1" dirty="0">
                <a:latin typeface="Times New Roman"/>
                <a:cs typeface="Times New Roman"/>
              </a:rPr>
              <a:t>Research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Gap</a:t>
            </a:r>
            <a:endParaRPr sz="2200">
              <a:latin typeface="Times New Roman"/>
              <a:cs typeface="Times New Roman"/>
            </a:endParaRPr>
          </a:p>
          <a:p>
            <a:pPr marL="469900" indent="-342900">
              <a:lnSpc>
                <a:spcPts val="2375"/>
              </a:lnSpc>
              <a:spcBef>
                <a:spcPts val="885"/>
              </a:spcBef>
              <a:buSzPct val="81818"/>
              <a:buFont typeface="Arial MT"/>
              <a:buChar char="•"/>
              <a:tabLst>
                <a:tab pos="469900" algn="l"/>
              </a:tabLst>
            </a:pPr>
            <a:r>
              <a:rPr sz="2200" dirty="0">
                <a:latin typeface="Times New Roman"/>
                <a:cs typeface="Times New Roman"/>
              </a:rPr>
              <a:t>Traditional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Apriori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FP-</a:t>
            </a:r>
            <a:r>
              <a:rPr sz="2200" dirty="0">
                <a:latin typeface="Times New Roman"/>
                <a:cs typeface="Times New Roman"/>
              </a:rPr>
              <a:t>Growth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struggle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scalability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when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ts val="2375"/>
              </a:lnSpc>
            </a:pPr>
            <a:r>
              <a:rPr sz="2200" dirty="0">
                <a:latin typeface="Times New Roman"/>
                <a:cs typeface="Times New Roman"/>
              </a:rPr>
              <a:t>handling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real-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datasets.</a:t>
            </a:r>
            <a:endParaRPr sz="2200">
              <a:latin typeface="Times New Roman"/>
              <a:cs typeface="Times New Roman"/>
            </a:endParaRPr>
          </a:p>
          <a:p>
            <a:pPr marL="469900" marR="888365" indent="-343535">
              <a:lnSpc>
                <a:spcPct val="80000"/>
              </a:lnSpc>
              <a:spcBef>
                <a:spcPts val="1000"/>
              </a:spcBef>
              <a:buSzPct val="81818"/>
              <a:buFont typeface="Arial MT"/>
              <a:buChar char="•"/>
              <a:tabLst>
                <a:tab pos="469900" algn="l"/>
              </a:tabLst>
            </a:pPr>
            <a:r>
              <a:rPr sz="2200" dirty="0">
                <a:latin typeface="Times New Roman"/>
                <a:cs typeface="Times New Roman"/>
              </a:rPr>
              <a:t>Most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studies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focus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item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frequency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ignore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temporal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patterns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(e.g., </a:t>
            </a:r>
            <a:r>
              <a:rPr sz="2200" dirty="0">
                <a:latin typeface="Times New Roman"/>
                <a:cs typeface="Times New Roman"/>
              </a:rPr>
              <a:t>seasonal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time-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buying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behavior).</a:t>
            </a:r>
            <a:endParaRPr sz="2200">
              <a:latin typeface="Times New Roman"/>
              <a:cs typeface="Times New Roman"/>
            </a:endParaRPr>
          </a:p>
          <a:p>
            <a:pPr marL="469900" indent="-342900">
              <a:lnSpc>
                <a:spcPts val="2375"/>
              </a:lnSpc>
              <a:spcBef>
                <a:spcPts val="465"/>
              </a:spcBef>
              <a:buSzPct val="81818"/>
              <a:buFont typeface="Arial MT"/>
              <a:buChar char="•"/>
              <a:tabLst>
                <a:tab pos="469900" algn="l"/>
              </a:tabLst>
            </a:pPr>
            <a:r>
              <a:rPr sz="2200" dirty="0">
                <a:latin typeface="Times New Roman"/>
                <a:cs typeface="Times New Roman"/>
              </a:rPr>
              <a:t>Existing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effectively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incorporate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customer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personalization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user-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ts val="2375"/>
              </a:lnSpc>
            </a:pPr>
            <a:r>
              <a:rPr sz="2200" dirty="0">
                <a:latin typeface="Times New Roman"/>
                <a:cs typeface="Times New Roman"/>
              </a:rPr>
              <a:t>specific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preferences.</a:t>
            </a:r>
            <a:endParaRPr sz="2200">
              <a:latin typeface="Times New Roman"/>
              <a:cs typeface="Times New Roman"/>
            </a:endParaRPr>
          </a:p>
          <a:p>
            <a:pPr marL="469900" marR="5080" indent="-343535">
              <a:lnSpc>
                <a:spcPts val="2110"/>
              </a:lnSpc>
              <a:spcBef>
                <a:spcPts val="995"/>
              </a:spcBef>
              <a:buSzPct val="81818"/>
              <a:buFont typeface="Arial MT"/>
              <a:buChar char="•"/>
              <a:tabLst>
                <a:tab pos="469900" algn="l"/>
              </a:tabLst>
            </a:pPr>
            <a:r>
              <a:rPr sz="2200" dirty="0">
                <a:latin typeface="Times New Roman"/>
                <a:cs typeface="Times New Roman"/>
              </a:rPr>
              <a:t>Handling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dynamic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streaming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data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(online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transactions)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still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limited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many </a:t>
            </a:r>
            <a:r>
              <a:rPr sz="2200" spc="-10" dirty="0">
                <a:latin typeface="Times New Roman"/>
                <a:cs typeface="Times New Roman"/>
              </a:rPr>
              <a:t>approaches.</a:t>
            </a:r>
            <a:endParaRPr sz="2200">
              <a:latin typeface="Times New Roman"/>
              <a:cs typeface="Times New Roman"/>
            </a:endParaRPr>
          </a:p>
          <a:p>
            <a:pPr marL="469900" indent="-342900">
              <a:lnSpc>
                <a:spcPts val="2375"/>
              </a:lnSpc>
              <a:spcBef>
                <a:spcPts val="484"/>
              </a:spcBef>
              <a:buSzPct val="81818"/>
              <a:buFont typeface="Arial MT"/>
              <a:buChar char="•"/>
              <a:tabLst>
                <a:tab pos="469900" algn="l"/>
              </a:tabLst>
            </a:pPr>
            <a:r>
              <a:rPr sz="2200" dirty="0">
                <a:latin typeface="Times New Roman"/>
                <a:cs typeface="Times New Roman"/>
              </a:rPr>
              <a:t>Many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approaches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generate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rules,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leading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redundancy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difficulty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in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ts val="2375"/>
              </a:lnSpc>
            </a:pPr>
            <a:r>
              <a:rPr sz="2200" b="1" spc="-10" dirty="0">
                <a:latin typeface="Times New Roman"/>
                <a:cs typeface="Times New Roman"/>
              </a:rPr>
              <a:t>interpretation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469900" marR="935355" indent="-343535">
              <a:lnSpc>
                <a:spcPct val="80000"/>
              </a:lnSpc>
              <a:spcBef>
                <a:spcPts val="1000"/>
              </a:spcBef>
              <a:buSzPct val="81818"/>
              <a:buFont typeface="Arial MT"/>
              <a:buChar char="•"/>
              <a:tabLst>
                <a:tab pos="469900" algn="l"/>
              </a:tabLst>
            </a:pPr>
            <a:r>
              <a:rPr sz="2200" dirty="0">
                <a:latin typeface="Times New Roman"/>
                <a:cs typeface="Times New Roman"/>
              </a:rPr>
              <a:t>Limited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integration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MBA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advanced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techniques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deep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learning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and </a:t>
            </a:r>
            <a:r>
              <a:rPr sz="2200" b="1" dirty="0">
                <a:latin typeface="Times New Roman"/>
                <a:cs typeface="Times New Roman"/>
              </a:rPr>
              <a:t>recommendation</a:t>
            </a:r>
            <a:r>
              <a:rPr sz="2200" b="1" spc="-1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systems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469900" indent="-342900">
              <a:lnSpc>
                <a:spcPts val="2375"/>
              </a:lnSpc>
              <a:spcBef>
                <a:spcPts val="480"/>
              </a:spcBef>
              <a:buSzPct val="81818"/>
              <a:buFont typeface="Arial MT"/>
              <a:buChar char="•"/>
              <a:tabLst>
                <a:tab pos="469900" algn="l"/>
              </a:tabLst>
            </a:pPr>
            <a:r>
              <a:rPr sz="2200" dirty="0">
                <a:latin typeface="Times New Roman"/>
                <a:cs typeface="Times New Roman"/>
              </a:rPr>
              <a:t>Privacy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concerns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secure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handling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not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adequately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addressed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ts val="2375"/>
              </a:lnSpc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models.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3424" y="1183639"/>
            <a:ext cx="9925685" cy="4657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imes New Roman"/>
                <a:cs typeface="Times New Roman"/>
              </a:rPr>
              <a:t>Objectives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Times New Roman"/>
              <a:cs typeface="Times New Roman"/>
            </a:endParaRPr>
          </a:p>
          <a:p>
            <a:pPr marL="355600" marR="20066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frequent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itemsets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commonly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together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transactional data.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association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rules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relationships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products</a:t>
            </a:r>
            <a:r>
              <a:rPr sz="2400" spc="-10" dirty="0">
                <a:latin typeface="Times New Roman"/>
                <a:cs typeface="Times New Roman"/>
              </a:rPr>
              <a:t> (e.g.,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mbria Math"/>
                <a:cs typeface="Cambria Math"/>
              </a:rPr>
              <a:t>𝑋</a:t>
            </a:r>
            <a:r>
              <a:rPr sz="2400" spc="1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𝑌</a:t>
            </a:r>
            <a:r>
              <a:rPr sz="2400" spc="-25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customer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purchasing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behavior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buying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patterns.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product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placement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store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layout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sales.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cross-</a:t>
            </a:r>
            <a:r>
              <a:rPr sz="2400" b="1" dirty="0">
                <a:latin typeface="Times New Roman"/>
                <a:cs typeface="Times New Roman"/>
              </a:rPr>
              <a:t>selling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 </a:t>
            </a:r>
            <a:r>
              <a:rPr sz="2400" b="1" spc="-20" dirty="0">
                <a:latin typeface="Times New Roman"/>
                <a:cs typeface="Times New Roman"/>
              </a:rPr>
              <a:t>up-</a:t>
            </a:r>
            <a:r>
              <a:rPr sz="2400" b="1" dirty="0">
                <a:latin typeface="Times New Roman"/>
                <a:cs typeface="Times New Roman"/>
              </a:rPr>
              <a:t>selling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strategies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retail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e-</a:t>
            </a:r>
            <a:r>
              <a:rPr sz="2400" spc="-10" dirty="0">
                <a:latin typeface="Times New Roman"/>
                <a:cs typeface="Times New Roman"/>
              </a:rPr>
              <a:t>commerce.</a:t>
            </a:r>
            <a:endParaRPr sz="2400">
              <a:latin typeface="Times New Roman"/>
              <a:cs typeface="Times New Roman"/>
            </a:endParaRPr>
          </a:p>
          <a:p>
            <a:pPr marL="355600" marR="54229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enhance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recommendation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systems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suggesting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relevant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customers.</a:t>
            </a:r>
            <a:endParaRPr sz="2400">
              <a:latin typeface="Times New Roman"/>
              <a:cs typeface="Times New Roman"/>
            </a:endParaRPr>
          </a:p>
          <a:p>
            <a:pPr marL="355600" marR="7747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inventory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management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demand relationships.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185" y="1132078"/>
            <a:ext cx="32626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Challenges</a:t>
            </a:r>
            <a:r>
              <a:rPr sz="2800" spc="-85" dirty="0"/>
              <a:t> </a:t>
            </a:r>
            <a:r>
              <a:rPr sz="2800" dirty="0"/>
              <a:t>and</a:t>
            </a:r>
            <a:r>
              <a:rPr sz="2800" spc="-75" dirty="0"/>
              <a:t> </a:t>
            </a:r>
            <a:r>
              <a:rPr sz="2800" spc="-10" dirty="0"/>
              <a:t>Risks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053185" y="1866645"/>
            <a:ext cx="893953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9304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Scalability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Issues: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large-scale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transactional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10" dirty="0">
                <a:latin typeface="Times New Roman"/>
                <a:cs typeface="Times New Roman"/>
              </a:rPr>
              <a:t>computationally </a:t>
            </a:r>
            <a:r>
              <a:rPr sz="2000" dirty="0">
                <a:latin typeface="Times New Roman"/>
                <a:cs typeface="Times New Roman"/>
              </a:rPr>
              <a:t>expensive,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especially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algorithms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Apriori.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Quality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Problems: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Missing,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noisy,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inconsistent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accuracy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discovered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patterns.</a:t>
            </a:r>
            <a:endParaRPr sz="2000">
              <a:latin typeface="Times New Roman"/>
              <a:cs typeface="Times New Roman"/>
            </a:endParaRPr>
          </a:p>
          <a:p>
            <a:pPr marL="355600" marR="19431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Rule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Explosion: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association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difficult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insights.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Dynamic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Handling: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Difficulty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real-time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continuously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changing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transaction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355600" marR="671830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Interpretability: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patterns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statistically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strong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practically </a:t>
            </a:r>
            <a:r>
              <a:rPr sz="2000" dirty="0">
                <a:latin typeface="Times New Roman"/>
                <a:cs typeface="Times New Roman"/>
              </a:rPr>
              <a:t>meaningful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decisions.</a:t>
            </a:r>
            <a:endParaRPr sz="2000">
              <a:latin typeface="Times New Roman"/>
              <a:cs typeface="Times New Roman"/>
            </a:endParaRPr>
          </a:p>
          <a:p>
            <a:pPr marL="355600" marR="69215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Privacy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Concerns: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purchase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 raise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ethical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data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issues.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Imbalanced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important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item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combinations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 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overlooked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low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8266" y="882472"/>
            <a:ext cx="20212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Methodology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67232" y="1657350"/>
            <a:ext cx="8800465" cy="464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67485" indent="-343535">
              <a:lnSpc>
                <a:spcPct val="114599"/>
              </a:lnSpc>
              <a:spcBef>
                <a:spcPts val="100"/>
              </a:spcBef>
              <a:buSzPct val="75000"/>
              <a:buFont typeface="Arial MT"/>
              <a:buChar char="•"/>
              <a:tabLst>
                <a:tab pos="393700" algn="l"/>
              </a:tabLst>
            </a:pPr>
            <a:r>
              <a:rPr sz="2400" dirty="0">
                <a:latin typeface="Times New Roman"/>
                <a:cs typeface="Times New Roman"/>
              </a:rPr>
              <a:t>Transactional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retail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e-</a:t>
            </a:r>
            <a:r>
              <a:rPr sz="2400" spc="-10" dirty="0">
                <a:latin typeface="Times New Roman"/>
                <a:cs typeface="Times New Roman"/>
              </a:rPr>
              <a:t>commerce 	</a:t>
            </a:r>
            <a:r>
              <a:rPr sz="2400" dirty="0">
                <a:latin typeface="Times New Roman"/>
                <a:cs typeface="Times New Roman"/>
              </a:rPr>
              <a:t>datasets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(CSV/database).</a:t>
            </a:r>
            <a:endParaRPr sz="2400">
              <a:latin typeface="Times New Roman"/>
              <a:cs typeface="Times New Roman"/>
            </a:endParaRPr>
          </a:p>
          <a:p>
            <a:pPr marL="355600" marR="987425" indent="-343535">
              <a:lnSpc>
                <a:spcPct val="114599"/>
              </a:lnSpc>
              <a:spcBef>
                <a:spcPts val="10"/>
              </a:spcBef>
              <a:buSzPct val="75000"/>
              <a:buFont typeface="Arial MT"/>
              <a:buChar char="•"/>
              <a:tabLst>
                <a:tab pos="393700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preprocessing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cleaning, 	</a:t>
            </a:r>
            <a:r>
              <a:rPr sz="2400" b="1" dirty="0">
                <a:latin typeface="Times New Roman"/>
                <a:cs typeface="Times New Roman"/>
              </a:rPr>
              <a:t>handling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missing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values,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transformation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(binary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enco 	</a:t>
            </a:r>
            <a:r>
              <a:rPr sz="2400" dirty="0">
                <a:latin typeface="Times New Roman"/>
                <a:cs typeface="Times New Roman"/>
              </a:rPr>
              <a:t>ding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items).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SzPct val="75000"/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dataset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organized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transactions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itemsets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analysis.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20"/>
              </a:spcBef>
              <a:buSzPct val="75000"/>
              <a:buFont typeface="Arial MT"/>
              <a:buChar char="•"/>
              <a:tabLst>
                <a:tab pos="431800" algn="l"/>
              </a:tabLst>
            </a:pPr>
            <a:r>
              <a:rPr sz="2400" dirty="0">
                <a:latin typeface="Times New Roman"/>
                <a:cs typeface="Times New Roman"/>
              </a:rPr>
              <a:t>Frequent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itemsets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Apriori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25"/>
              </a:spcBef>
              <a:tabLst>
                <a:tab pos="218757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FP-Growth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minimum</a:t>
            </a:r>
            <a:r>
              <a:rPr sz="2400" spc="-10" dirty="0">
                <a:latin typeface="Times New Roman"/>
                <a:cs typeface="Times New Roman"/>
              </a:rPr>
              <a:t> support.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SzPct val="75000"/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Association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rules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derived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confidence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lift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measures.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SzPct val="75000"/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evaluated,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meaningful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425"/>
              </a:spcBef>
            </a:pPr>
            <a:r>
              <a:rPr sz="2400" b="1" dirty="0">
                <a:latin typeface="Times New Roman"/>
                <a:cs typeface="Times New Roman"/>
              </a:rPr>
              <a:t>business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insights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recommendations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6981" y="821448"/>
            <a:ext cx="2422525" cy="56456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329" y="856589"/>
            <a:ext cx="10010140" cy="499173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000" b="1" dirty="0">
                <a:latin typeface="Times New Roman"/>
                <a:cs typeface="Times New Roman"/>
              </a:rPr>
              <a:t>4.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Association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Rule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Generation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latin typeface="Times New Roman"/>
                <a:cs typeface="Times New Roman"/>
              </a:rPr>
              <a:t>Once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itemsets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identified,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association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generated.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association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rule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represented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  <a:p>
            <a:pPr marL="12700" marR="3339465">
              <a:lnSpc>
                <a:spcPts val="3170"/>
              </a:lnSpc>
              <a:spcBef>
                <a:spcPts val="220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buys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B. </a:t>
            </a:r>
            <a:r>
              <a:rPr sz="2000" dirty="0">
                <a:latin typeface="Times New Roman"/>
                <a:cs typeface="Times New Roman"/>
              </a:rPr>
              <a:t>Rules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evaluated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metrics: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000" dirty="0">
                <a:latin typeface="Times New Roman"/>
                <a:cs typeface="Times New Roman"/>
              </a:rPr>
              <a:t>SupportIndicates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frequently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items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appear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together.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b="1" spc="-10" dirty="0">
                <a:latin typeface="Times New Roman"/>
                <a:cs typeface="Times New Roman"/>
              </a:rPr>
              <a:t>Confidence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1040"/>
              </a:spcBef>
            </a:pPr>
            <a:r>
              <a:rPr sz="2000" dirty="0">
                <a:latin typeface="Times New Roman"/>
                <a:cs typeface="Times New Roman"/>
              </a:rPr>
              <a:t>Confidence(A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Support(A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 Math"/>
                <a:cs typeface="Cambria Math"/>
              </a:rPr>
              <a:t>∪</a:t>
            </a:r>
            <a:r>
              <a:rPr sz="2000" spc="55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Support(A)It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purchased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purchased.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000" b="1" spc="-20" dirty="0">
                <a:latin typeface="Times New Roman"/>
                <a:cs typeface="Times New Roman"/>
              </a:rPr>
              <a:t>Lift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  <a:spcBef>
                <a:spcPts val="755"/>
              </a:spcBef>
            </a:pPr>
            <a:r>
              <a:rPr sz="2000" dirty="0">
                <a:latin typeface="Times New Roman"/>
                <a:cs typeface="Times New Roman"/>
              </a:rPr>
              <a:t>Lift(A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B)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Confidence(A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Support(B)Lift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&gt;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indicates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strong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positive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association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items.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satisfy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minimum confidence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lift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thresholds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selected.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3159" y="1089405"/>
            <a:ext cx="2131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Object</a:t>
            </a:r>
            <a:r>
              <a:rPr spc="-2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350" y="1820621"/>
            <a:ext cx="5734050" cy="3684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Snapshot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during </a:t>
            </a:r>
            <a:r>
              <a:rPr sz="2400" spc="-25" dirty="0">
                <a:latin typeface="Times New Roman"/>
                <a:cs typeface="Times New Roman"/>
              </a:rPr>
              <a:t>one</a:t>
            </a:r>
            <a:endParaRPr sz="2400">
              <a:latin typeface="Times New Roman"/>
              <a:cs typeface="Times New Roman"/>
            </a:endParaRPr>
          </a:p>
          <a:p>
            <a:pPr marL="39306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transaction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analysis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session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4965" marR="149225" indent="-342900">
              <a:lnSpc>
                <a:spcPct val="100000"/>
              </a:lnSpc>
              <a:buFont typeface="Arial MT"/>
              <a:buChar char="•"/>
              <a:tabLst>
                <a:tab pos="393065" algn="l"/>
              </a:tabLst>
            </a:pP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customers,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transactions,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items, 	</a:t>
            </a:r>
            <a:r>
              <a:rPr sz="2400" b="1" dirty="0">
                <a:latin typeface="Times New Roman"/>
                <a:cs typeface="Times New Roman"/>
              </a:rPr>
              <a:t>frequent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itemsets,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association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rules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Demonstrates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purchased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items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are</a:t>
            </a:r>
            <a:endParaRPr sz="2400">
              <a:latin typeface="Times New Roman"/>
              <a:cs typeface="Times New Roman"/>
            </a:endParaRPr>
          </a:p>
          <a:p>
            <a:pPr marL="39306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grouped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processed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patterns.</a:t>
            </a:r>
            <a:endParaRPr sz="2400">
              <a:latin typeface="Times New Roman"/>
              <a:cs typeface="Times New Roman"/>
            </a:endParaRPr>
          </a:p>
          <a:p>
            <a:pPr marL="316865" marR="85725" indent="-304800">
              <a:lnSpc>
                <a:spcPct val="100000"/>
              </a:lnSpc>
              <a:buChar char="•"/>
              <a:tabLst>
                <a:tab pos="316865" algn="l"/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relationships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transactions, </a:t>
            </a:r>
            <a:r>
              <a:rPr sz="2400" b="1" dirty="0">
                <a:latin typeface="Times New Roman"/>
                <a:cs typeface="Times New Roman"/>
              </a:rPr>
              <a:t>itemsets,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rules,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database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storage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buFont typeface="Arial MT"/>
              <a:buChar char="•"/>
              <a:tabLst>
                <a:tab pos="393065" algn="l"/>
              </a:tabLst>
            </a:pP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visualize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recommendations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are 	</a:t>
            </a:r>
            <a:r>
              <a:rPr sz="2400" b="1" dirty="0">
                <a:latin typeface="Times New Roman"/>
                <a:cs typeface="Times New Roman"/>
              </a:rPr>
              <a:t>generated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based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buying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behavior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8995" y="1483029"/>
            <a:ext cx="3998865" cy="49211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7575">
              <a:lnSpc>
                <a:spcPct val="100000"/>
              </a:lnSpc>
              <a:spcBef>
                <a:spcPts val="100"/>
              </a:spcBef>
            </a:pPr>
            <a:r>
              <a:rPr dirty="0"/>
              <a:t>Sequence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3800" y="1686813"/>
            <a:ext cx="4706620" cy="398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20447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Step-</a:t>
            </a:r>
            <a:r>
              <a:rPr sz="2000" spc="-10" dirty="0">
                <a:latin typeface="Times New Roman"/>
                <a:cs typeface="Times New Roman"/>
              </a:rPr>
              <a:t>by-</a:t>
            </a: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market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basket </a:t>
            </a:r>
            <a:r>
              <a:rPr sz="2000" b="1" dirty="0">
                <a:latin typeface="Times New Roman"/>
                <a:cs typeface="Times New Roman"/>
              </a:rPr>
              <a:t>analysis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processing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99085" marR="26670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uploads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transaction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→ </a:t>
            </a:r>
            <a:r>
              <a:rPr sz="2000" dirty="0">
                <a:latin typeface="Times New Roman"/>
                <a:cs typeface="Times New Roman"/>
              </a:rPr>
              <a:t>preprocessing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itemset </a:t>
            </a:r>
            <a:r>
              <a:rPr sz="2000" dirty="0">
                <a:latin typeface="Times New Roman"/>
                <a:cs typeface="Times New Roman"/>
              </a:rPr>
              <a:t>generation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association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→ </a:t>
            </a: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update.</a:t>
            </a:r>
            <a:endParaRPr sz="2000">
              <a:latin typeface="Times New Roman"/>
              <a:cs typeface="Times New Roman"/>
            </a:endParaRPr>
          </a:p>
          <a:p>
            <a:pPr marL="299085" marR="6921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identifies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item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relationships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(e.g., </a:t>
            </a:r>
            <a:r>
              <a:rPr sz="2000" b="1" dirty="0">
                <a:latin typeface="Times New Roman"/>
                <a:cs typeface="Times New Roman"/>
              </a:rPr>
              <a:t>Bread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→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Butter)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spc="-10" dirty="0">
                <a:latin typeface="Times New Roman"/>
                <a:cs typeface="Times New Roman"/>
              </a:rPr>
              <a:t>confidence.</a:t>
            </a:r>
            <a:endParaRPr sz="2000">
              <a:latin typeface="Times New Roman"/>
              <a:cs typeface="Times New Roman"/>
            </a:endParaRPr>
          </a:p>
          <a:p>
            <a:pPr marL="299085" marR="2222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Results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(frequent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itemsets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rules)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sent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dashboard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insights.</a:t>
            </a:r>
            <a:endParaRPr sz="20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Ends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report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generation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0" dirty="0">
                <a:latin typeface="Times New Roman"/>
                <a:cs typeface="Times New Roman"/>
              </a:rPr>
              <a:t> product </a:t>
            </a:r>
            <a:r>
              <a:rPr sz="2000" b="1" dirty="0">
                <a:latin typeface="Times New Roman"/>
                <a:cs typeface="Times New Roman"/>
              </a:rPr>
              <a:t>recommendation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output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369" y="1662506"/>
            <a:ext cx="6118225" cy="4093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00"/>
              </a:spcBef>
            </a:pPr>
            <a:r>
              <a:rPr dirty="0"/>
              <a:t>Collaboration</a:t>
            </a:r>
            <a:r>
              <a:rPr spc="-15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156" y="1570482"/>
            <a:ext cx="5211445" cy="368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30670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Times New Roman"/>
                <a:cs typeface="Times New Roman"/>
              </a:rPr>
              <a:t>Focuses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communication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 </a:t>
            </a:r>
            <a:r>
              <a:rPr sz="2000" dirty="0">
                <a:latin typeface="Times New Roman"/>
                <a:cs typeface="Times New Roman"/>
              </a:rPr>
              <a:t>components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basket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analysis workflow.</a:t>
            </a:r>
            <a:endParaRPr sz="2000">
              <a:latin typeface="Times New Roman"/>
              <a:cs typeface="Times New Roman"/>
            </a:endParaRPr>
          </a:p>
          <a:p>
            <a:pPr marL="299085" marR="1079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Times New Roman"/>
                <a:cs typeface="Times New Roman"/>
              </a:rPr>
              <a:t>Shows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message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flow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numbered </a:t>
            </a:r>
            <a:r>
              <a:rPr sz="2000" dirty="0">
                <a:latin typeface="Times New Roman"/>
                <a:cs typeface="Times New Roman"/>
              </a:rPr>
              <a:t>interactions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(dataset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upload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preprocessing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→ </a:t>
            </a:r>
            <a:r>
              <a:rPr sz="2000" dirty="0">
                <a:latin typeface="Times New Roman"/>
                <a:cs typeface="Times New Roman"/>
              </a:rPr>
              <a:t>itemset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report</a:t>
            </a:r>
            <a:r>
              <a:rPr sz="2000" spc="-50" dirty="0">
                <a:latin typeface="Times New Roman"/>
                <a:cs typeface="Times New Roman"/>
              </a:rPr>
              <a:t> → </a:t>
            </a:r>
            <a:r>
              <a:rPr sz="2000" spc="-10" dirty="0">
                <a:latin typeface="Times New Roman"/>
                <a:cs typeface="Times New Roman"/>
              </a:rPr>
              <a:t>storage).</a:t>
            </a:r>
            <a:endParaRPr sz="2000">
              <a:latin typeface="Times New Roman"/>
              <a:cs typeface="Times New Roman"/>
            </a:endParaRPr>
          </a:p>
          <a:p>
            <a:pPr marL="299085" marR="8890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Times New Roman"/>
                <a:cs typeface="Times New Roman"/>
              </a:rPr>
              <a:t>Backend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connects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preprocessing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module, </a:t>
            </a:r>
            <a:r>
              <a:rPr sz="2000" dirty="0">
                <a:latin typeface="Times New Roman"/>
                <a:cs typeface="Times New Roman"/>
              </a:rPr>
              <a:t>Apriori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algorithm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engine,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Times New Roman"/>
                <a:cs typeface="Times New Roman"/>
              </a:rPr>
              <a:t>User/Retailer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interface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frequent </a:t>
            </a:r>
            <a:r>
              <a:rPr sz="2000" dirty="0">
                <a:latin typeface="Times New Roman"/>
                <a:cs typeface="Times New Roman"/>
              </a:rPr>
              <a:t>itemsets,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association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recommendation </a:t>
            </a:r>
            <a:r>
              <a:rPr sz="2000" dirty="0">
                <a:latin typeface="Times New Roman"/>
                <a:cs typeface="Times New Roman"/>
              </a:rPr>
              <a:t>reports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analysis.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509687"/>
            <a:ext cx="5757799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427" rIns="0" bIns="0" rtlCol="0">
            <a:spAutoFit/>
          </a:bodyPr>
          <a:lstStyle/>
          <a:p>
            <a:pPr marL="564515">
              <a:lnSpc>
                <a:spcPct val="100000"/>
              </a:lnSpc>
              <a:spcBef>
                <a:spcPts val="100"/>
              </a:spcBef>
            </a:pPr>
            <a:r>
              <a:rPr dirty="0"/>
              <a:t>State</a:t>
            </a:r>
            <a:r>
              <a:rPr spc="-35" dirty="0"/>
              <a:t> </a:t>
            </a:r>
            <a:r>
              <a:rPr dirty="0"/>
              <a:t>Machine</a:t>
            </a:r>
            <a:r>
              <a:rPr spc="-2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7024" y="1520444"/>
            <a:ext cx="5612765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Represents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lifecycle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market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basket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processing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299085" marR="9080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Flow: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Uploaded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→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Preprocessing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→ </a:t>
            </a:r>
            <a:r>
              <a:rPr sz="2000" b="1" dirty="0">
                <a:latin typeface="Times New Roman"/>
                <a:cs typeface="Times New Roman"/>
              </a:rPr>
              <a:t>Frequent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Itemset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Generation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→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Rule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Mining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→ </a:t>
            </a:r>
            <a:r>
              <a:rPr sz="2000" b="1" dirty="0">
                <a:latin typeface="Times New Roman"/>
                <a:cs typeface="Times New Roman"/>
              </a:rPr>
              <a:t>Result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Generated/Failed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repeated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transaction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dataset </a:t>
            </a:r>
            <a:r>
              <a:rPr sz="2000" b="1" dirty="0">
                <a:latin typeface="Times New Roman"/>
                <a:cs typeface="Times New Roman"/>
              </a:rPr>
              <a:t>or batch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input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Ends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association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rules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successfully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generated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occurs</a:t>
            </a:r>
            <a:r>
              <a:rPr sz="1400" spc="-1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1690370"/>
            <a:ext cx="5403214" cy="36713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6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Activity</a:t>
            </a:r>
            <a:r>
              <a:rPr spc="-25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3457" y="1620393"/>
            <a:ext cx="6520180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End-</a:t>
            </a:r>
            <a:r>
              <a:rPr sz="2000" spc="-10" dirty="0">
                <a:latin typeface="Times New Roman"/>
                <a:cs typeface="Times New Roman"/>
              </a:rPr>
              <a:t>to-</a:t>
            </a:r>
            <a:r>
              <a:rPr sz="2000" dirty="0">
                <a:latin typeface="Times New Roman"/>
                <a:cs typeface="Times New Roman"/>
              </a:rPr>
              <a:t>end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workflow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market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basket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analysis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process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5600" marR="81915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Transaction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preprocessing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itemset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association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generation.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Stores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 dashboard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product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recommendation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insights.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exporting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reports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(PDF/CSV)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decisions.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7706" y="708228"/>
            <a:ext cx="3703320" cy="56401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460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100"/>
              </a:spcBef>
            </a:pPr>
            <a:r>
              <a:rPr dirty="0"/>
              <a:t>Deployment</a:t>
            </a:r>
            <a:r>
              <a:rPr spc="-3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0577" y="1863979"/>
            <a:ext cx="5078095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51765">
              <a:lnSpc>
                <a:spcPct val="100000"/>
              </a:lnSpc>
              <a:spcBef>
                <a:spcPts val="105"/>
              </a:spcBef>
              <a:buChar char="•"/>
              <a:tabLst>
                <a:tab pos="164465" algn="l"/>
              </a:tabLst>
            </a:pP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market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basket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analysis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system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deployed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across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machines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5"/>
              </a:spcBef>
              <a:buChar char="•"/>
              <a:tabLst>
                <a:tab pos="164465" algn="l"/>
              </a:tabLst>
            </a:pPr>
            <a:r>
              <a:rPr sz="2000" dirty="0">
                <a:latin typeface="Times New Roman"/>
                <a:cs typeface="Times New Roman"/>
              </a:rPr>
              <a:t>Client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transaction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backend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internet.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434340" indent="151765">
              <a:lnSpc>
                <a:spcPct val="100000"/>
              </a:lnSpc>
              <a:buChar char="•"/>
              <a:tabLst>
                <a:tab pos="164465" algn="l"/>
              </a:tabLst>
            </a:pPr>
            <a:r>
              <a:rPr sz="2000" dirty="0">
                <a:latin typeface="Times New Roman"/>
                <a:cs typeface="Times New Roman"/>
              </a:rPr>
              <a:t>Backend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coordinates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preprocessing,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Apriori </a:t>
            </a:r>
            <a:r>
              <a:rPr sz="2000" dirty="0">
                <a:latin typeface="Times New Roman"/>
                <a:cs typeface="Times New Roman"/>
              </a:rPr>
              <a:t>algorithm,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services.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 marR="90805" indent="151765">
              <a:lnSpc>
                <a:spcPct val="100000"/>
              </a:lnSpc>
              <a:spcBef>
                <a:spcPts val="5"/>
              </a:spcBef>
              <a:buChar char="•"/>
              <a:tabLst>
                <a:tab pos="164465" algn="l"/>
              </a:tabLst>
            </a:pP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 </a:t>
            </a:r>
            <a:r>
              <a:rPr sz="2000" spc="-10" dirty="0">
                <a:latin typeface="Times New Roman"/>
                <a:cs typeface="Times New Roman"/>
              </a:rPr>
              <a:t>transaction </a:t>
            </a:r>
            <a:r>
              <a:rPr sz="2000" dirty="0">
                <a:latin typeface="Times New Roman"/>
                <a:cs typeface="Times New Roman"/>
              </a:rPr>
              <a:t>data,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itemsets,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rules.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3120" y="1556003"/>
            <a:ext cx="5959094" cy="41132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6057" y="1247013"/>
            <a:ext cx="3439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9177" y="1919477"/>
            <a:ext cx="4752975" cy="429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Software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Requirements: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Google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Collab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Python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(3.x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version)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Jupyter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Notebook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PyCharm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Libraries:</a:t>
            </a:r>
            <a:endParaRPr sz="2000">
              <a:latin typeface="Times New Roman"/>
              <a:cs typeface="Times New Roman"/>
            </a:endParaRPr>
          </a:p>
          <a:p>
            <a:pPr marL="393700" marR="845819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Pandas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handling)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NumPy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numerical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operations)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Matplotlib/Seaborn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(for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visualization)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mlxtend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Apriori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association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rules)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Operating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System:</a:t>
            </a:r>
            <a:endParaRPr sz="20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Windows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Linux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0" dirty="0">
                <a:latin typeface="Times New Roman"/>
                <a:cs typeface="Times New Roman"/>
              </a:rPr>
              <a:t> macOS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8569" y="1404873"/>
            <a:ext cx="29927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/>
              <a:t>Hardware</a:t>
            </a:r>
            <a:r>
              <a:rPr sz="2200" spc="-90" dirty="0"/>
              <a:t> </a:t>
            </a:r>
            <a:r>
              <a:rPr sz="2200" spc="-10" dirty="0"/>
              <a:t>Requirements</a:t>
            </a:r>
            <a:endParaRPr sz="2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imes New Roman"/>
                <a:cs typeface="Times New Roman"/>
              </a:rPr>
              <a:t>Processor: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dirty="0"/>
              <a:t>Intel</a:t>
            </a:r>
            <a:r>
              <a:rPr spc="-40" dirty="0"/>
              <a:t> </a:t>
            </a:r>
            <a:r>
              <a:rPr dirty="0"/>
              <a:t>i3</a:t>
            </a:r>
            <a:r>
              <a:rPr spc="-10" dirty="0"/>
              <a:t> </a:t>
            </a:r>
            <a:r>
              <a:rPr dirty="0"/>
              <a:t>or</a:t>
            </a:r>
            <a:r>
              <a:rPr spc="5" dirty="0"/>
              <a:t> </a:t>
            </a:r>
            <a:r>
              <a:rPr spc="-20" dirty="0"/>
              <a:t>above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pc="-2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1" dirty="0">
                <a:latin typeface="Times New Roman"/>
                <a:cs typeface="Times New Roman"/>
              </a:rPr>
              <a:t>RAM: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dirty="0"/>
              <a:t>Minimum</a:t>
            </a:r>
            <a:r>
              <a:rPr spc="-35" dirty="0"/>
              <a:t> </a:t>
            </a:r>
            <a:r>
              <a:rPr dirty="0"/>
              <a:t>4GB</a:t>
            </a:r>
            <a:r>
              <a:rPr spc="-25" dirty="0"/>
              <a:t> </a:t>
            </a:r>
            <a:r>
              <a:rPr dirty="0"/>
              <a:t>(8GB</a:t>
            </a:r>
            <a:r>
              <a:rPr spc="-30" dirty="0"/>
              <a:t> </a:t>
            </a:r>
            <a:r>
              <a:rPr spc="-10" dirty="0"/>
              <a:t>recommended)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pc="-1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1" dirty="0">
                <a:latin typeface="Times New Roman"/>
                <a:cs typeface="Times New Roman"/>
              </a:rPr>
              <a:t>Storage: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dirty="0"/>
              <a:t>500GB</a:t>
            </a:r>
            <a:r>
              <a:rPr spc="-40" dirty="0"/>
              <a:t> </a:t>
            </a:r>
            <a:r>
              <a:rPr dirty="0"/>
              <a:t>HDD</a:t>
            </a:r>
            <a:r>
              <a:rPr spc="-1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spc="-25" dirty="0"/>
              <a:t>SSD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25" dirty="0"/>
          </a:p>
          <a:p>
            <a:pPr marL="12700">
              <a:lnSpc>
                <a:spcPct val="100000"/>
              </a:lnSpc>
            </a:pPr>
            <a:r>
              <a:rPr b="1" dirty="0">
                <a:latin typeface="Times New Roman"/>
                <a:cs typeface="Times New Roman"/>
              </a:rPr>
              <a:t>System: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spc="-10" dirty="0"/>
              <a:t>Windows/Linux/Mac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dirty="0"/>
              <a:t>Since</a:t>
            </a:r>
            <a:r>
              <a:rPr spc="-3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mining</a:t>
            </a:r>
            <a:r>
              <a:rPr spc="-10" dirty="0"/>
              <a:t> </a:t>
            </a:r>
            <a:r>
              <a:rPr dirty="0"/>
              <a:t>project,</a:t>
            </a:r>
            <a:r>
              <a:rPr spc="-50" dirty="0"/>
              <a:t> </a:t>
            </a:r>
            <a:r>
              <a:rPr dirty="0"/>
              <a:t>no</a:t>
            </a:r>
            <a:r>
              <a:rPr spc="-5" dirty="0"/>
              <a:t> </a:t>
            </a:r>
            <a:r>
              <a:rPr dirty="0"/>
              <a:t>high-end</a:t>
            </a:r>
            <a:r>
              <a:rPr spc="-45" dirty="0"/>
              <a:t> </a:t>
            </a:r>
            <a:r>
              <a:rPr dirty="0"/>
              <a:t>hardware</a:t>
            </a:r>
            <a:r>
              <a:rPr spc="-4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required</a:t>
            </a:r>
            <a:r>
              <a:rPr spc="-4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moderate</a:t>
            </a:r>
            <a:r>
              <a:rPr spc="-30" dirty="0"/>
              <a:t> </a:t>
            </a:r>
            <a:r>
              <a:rPr spc="-10" dirty="0"/>
              <a:t>datasets.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E7D73-EAD9-9D0F-2F15-F0B48ECF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203D8FE-C6C8-043A-EA15-588F227C3A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8609" y="990600"/>
            <a:ext cx="29927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200" dirty="0"/>
              <a:t> Final Results</a:t>
            </a:r>
            <a:endParaRPr sz="22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7F263D2-2C3A-E468-9C33-A63860C3D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2044065"/>
            <a:ext cx="92487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/>
                <a:cs typeface="Times New Roman"/>
              </a:rPr>
              <a:t> </a:t>
            </a:r>
            <a:endParaRPr spc="-1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EA44C-3CAD-C8E1-1B24-E82BC1250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05000"/>
            <a:ext cx="4811569" cy="2527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71BD44-6B16-527B-182C-46DDE242C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905000"/>
            <a:ext cx="5344271" cy="26102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EB3C47-C596-A809-1250-2214392FCF99}"/>
              </a:ext>
            </a:extLst>
          </p:cNvPr>
          <p:cNvSpPr txBox="1"/>
          <p:nvPr/>
        </p:nvSpPr>
        <p:spPr>
          <a:xfrm>
            <a:off x="3810000" y="5379751"/>
            <a:ext cx="502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/>
              <a:t>Fig: Displaying Recommended Products</a:t>
            </a:r>
          </a:p>
        </p:txBody>
      </p:sp>
    </p:spTree>
    <p:extLst>
      <p:ext uri="{BB962C8B-B14F-4D97-AF65-F5344CB8AC3E}">
        <p14:creationId xmlns:p14="http://schemas.microsoft.com/office/powerpoint/2010/main" val="770478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55582-7EF5-3670-93B3-9E2CC28F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1225CA-74F0-15C0-89F2-9DC32A37F4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1381" y="762000"/>
            <a:ext cx="3674364" cy="586562"/>
          </a:xfrm>
        </p:spPr>
        <p:txBody>
          <a:bodyPr vert="horz" wrap="square" lIns="0" tIns="12065" rIns="0" bIns="0" rtlCol="0">
            <a:normAutofit/>
          </a:bodyPr>
          <a:lstStyle/>
          <a:p>
            <a:pPr marL="12700" algn="ctr">
              <a:spcBef>
                <a:spcPts val="95"/>
              </a:spcBef>
            </a:pPr>
            <a:r>
              <a:rPr lang="en-IN" dirty="0"/>
              <a:t>Final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CBDC2E-955D-E66D-A7B8-5EE13923D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19072"/>
            <a:ext cx="5303520" cy="4242815"/>
          </a:xfrm>
          <a:prstGeom prst="rect">
            <a:avLst/>
          </a:prstGeom>
          <a:noFill/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6E63B55-5663-11AD-C729-B0B854B1C3B5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63" y="1708137"/>
            <a:ext cx="5303837" cy="42656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B1EAB0-A19C-1B64-7606-F2918C38EA40}"/>
              </a:ext>
            </a:extLst>
          </p:cNvPr>
          <p:cNvSpPr txBox="1"/>
          <p:nvPr/>
        </p:nvSpPr>
        <p:spPr>
          <a:xfrm>
            <a:off x="1524000" y="62484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Support vs Confidence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6FF79C-58CC-8AC6-CC59-A6D7A6E635AB}"/>
              </a:ext>
            </a:extLst>
          </p:cNvPr>
          <p:cNvSpPr txBox="1"/>
          <p:nvPr/>
        </p:nvSpPr>
        <p:spPr>
          <a:xfrm>
            <a:off x="7467600" y="624840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Confidence vs Lift</a:t>
            </a:r>
          </a:p>
        </p:txBody>
      </p:sp>
    </p:spTree>
    <p:extLst>
      <p:ext uri="{BB962C8B-B14F-4D97-AF65-F5344CB8AC3E}">
        <p14:creationId xmlns:p14="http://schemas.microsoft.com/office/powerpoint/2010/main" val="3505375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3ABE-5AC0-4BBE-66C6-6D7B1F9D4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717DA0-8414-6483-2D1B-CD30FA76F4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8609" y="990600"/>
            <a:ext cx="29927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200" dirty="0"/>
              <a:t> Final Results</a:t>
            </a:r>
            <a:endParaRPr sz="22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BB695A9-13E1-BF35-0A8A-9DC4F5D5C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2044065"/>
            <a:ext cx="92487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/>
                <a:cs typeface="Times New Roman"/>
              </a:rPr>
              <a:t> </a:t>
            </a:r>
            <a:endParaRPr spc="-1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4A2496-426B-87B6-683F-275BA450093B}"/>
              </a:ext>
            </a:extLst>
          </p:cNvPr>
          <p:cNvSpPr txBox="1"/>
          <p:nvPr/>
        </p:nvSpPr>
        <p:spPr>
          <a:xfrm>
            <a:off x="914400" y="4517078"/>
            <a:ext cx="396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/>
              <a:t>Fig: Average of support ,lift ,confidence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AAACAA-B42D-85E8-297A-E2CE85F84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2077593"/>
            <a:ext cx="4724399" cy="18848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072E1D-C8AE-1541-6AA8-8D4A09237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976" y="1616397"/>
            <a:ext cx="5334000" cy="3625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547D4B-87BE-E090-7993-B48D2AD24EE0}"/>
              </a:ext>
            </a:extLst>
          </p:cNvPr>
          <p:cNvSpPr txBox="1"/>
          <p:nvPr/>
        </p:nvSpPr>
        <p:spPr>
          <a:xfrm>
            <a:off x="6172200" y="5562600"/>
            <a:ext cx="449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i="1" dirty="0"/>
              <a:t>Fig: Results based on lift and confidence</a:t>
            </a:r>
          </a:p>
        </p:txBody>
      </p:sp>
    </p:spTree>
    <p:extLst>
      <p:ext uri="{BB962C8B-B14F-4D97-AF65-F5344CB8AC3E}">
        <p14:creationId xmlns:p14="http://schemas.microsoft.com/office/powerpoint/2010/main" val="2319694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119" y="1238250"/>
            <a:ext cx="148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819" y="1582293"/>
            <a:ext cx="10440670" cy="4550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 marR="671830" indent="-127000">
              <a:lnSpc>
                <a:spcPct val="100000"/>
              </a:lnSpc>
              <a:spcBef>
                <a:spcPts val="105"/>
              </a:spcBef>
              <a:buChar char="•"/>
              <a:tabLst>
                <a:tab pos="139065" algn="l"/>
                <a:tab pos="163830" algn="l"/>
              </a:tabLst>
            </a:pPr>
            <a:r>
              <a:rPr sz="2000" dirty="0">
                <a:latin typeface="Times New Roman"/>
                <a:cs typeface="Times New Roman"/>
              </a:rPr>
              <a:t>	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successfully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identifies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frequent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itemsets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association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rules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mining </a:t>
            </a:r>
            <a:r>
              <a:rPr sz="2000" dirty="0">
                <a:latin typeface="Times New Roman"/>
                <a:cs typeface="Times New Roman"/>
              </a:rPr>
              <a:t>techniques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Apriori.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39065" marR="5080" indent="-127000">
              <a:lnSpc>
                <a:spcPct val="100000"/>
              </a:lnSpc>
              <a:buChar char="•"/>
              <a:tabLst>
                <a:tab pos="139065" algn="l"/>
                <a:tab pos="163830" algn="l"/>
              </a:tabLst>
            </a:pPr>
            <a:r>
              <a:rPr sz="2000" dirty="0">
                <a:latin typeface="Times New Roman"/>
                <a:cs typeface="Times New Roman"/>
              </a:rPr>
              <a:t>	Efficient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preprocessing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accuracy,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retailers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understand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customer </a:t>
            </a:r>
            <a:r>
              <a:rPr sz="2000" b="1" dirty="0">
                <a:latin typeface="Times New Roman"/>
                <a:cs typeface="Times New Roman"/>
              </a:rPr>
              <a:t>buying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patterns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buChar char="•"/>
              <a:tabLst>
                <a:tab pos="164465" algn="l"/>
              </a:tabLst>
            </a:pP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better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product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placement,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cross-</a:t>
            </a:r>
            <a:r>
              <a:rPr sz="2000" b="1" dirty="0">
                <a:latin typeface="Times New Roman"/>
                <a:cs typeface="Times New Roman"/>
              </a:rPr>
              <a:t>selling,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recommendation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strategies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spc="-20" dirty="0">
                <a:latin typeface="Times New Roman"/>
                <a:cs typeface="Times New Roman"/>
              </a:rPr>
              <a:t>time</a:t>
            </a:r>
            <a:endParaRPr sz="20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retail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environments.</a:t>
            </a:r>
            <a:endParaRPr sz="2000">
              <a:latin typeface="Times New Roman"/>
              <a:cs typeface="Times New Roman"/>
            </a:endParaRPr>
          </a:p>
          <a:p>
            <a:pPr marL="194945">
              <a:lnSpc>
                <a:spcPct val="100000"/>
              </a:lnSpc>
              <a:spcBef>
                <a:spcPts val="815"/>
              </a:spcBef>
            </a:pPr>
            <a:r>
              <a:rPr sz="2400" b="1" dirty="0">
                <a:latin typeface="Times New Roman"/>
                <a:cs typeface="Times New Roman"/>
              </a:rPr>
              <a:t>Future </a:t>
            </a:r>
            <a:r>
              <a:rPr sz="2400" b="1" spc="-10" dirty="0">
                <a:latin typeface="Times New Roman"/>
                <a:cs typeface="Times New Roman"/>
              </a:rPr>
              <a:t>Enhancements</a:t>
            </a:r>
            <a:endParaRPr sz="24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720"/>
              </a:spcBef>
              <a:buChar char="•"/>
              <a:tabLst>
                <a:tab pos="164465" algn="l"/>
              </a:tabLst>
            </a:pPr>
            <a:r>
              <a:rPr sz="2000" dirty="0">
                <a:latin typeface="Times New Roman"/>
                <a:cs typeface="Times New Roman"/>
              </a:rPr>
              <a:t>Integration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real-</a:t>
            </a:r>
            <a:r>
              <a:rPr sz="2000" b="1" dirty="0">
                <a:latin typeface="Times New Roman"/>
                <a:cs typeface="Times New Roman"/>
              </a:rPr>
              <a:t>time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transaction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systems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recommendation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updates.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buChar char="•"/>
              <a:tabLst>
                <a:tab pos="164465" algn="l"/>
              </a:tabLst>
            </a:pP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mobile/web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dashboard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interactive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visualization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buying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patterns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buChar char="•"/>
              <a:tabLst>
                <a:tab pos="164465" algn="l"/>
              </a:tabLst>
            </a:pPr>
            <a:r>
              <a:rPr sz="2000" dirty="0">
                <a:latin typeface="Times New Roman"/>
                <a:cs typeface="Times New Roman"/>
              </a:rPr>
              <a:t>Use 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advanced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algorithms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FP-</a:t>
            </a:r>
            <a:r>
              <a:rPr sz="2000" b="1" dirty="0">
                <a:latin typeface="Times New Roman"/>
                <a:cs typeface="Times New Roman"/>
              </a:rPr>
              <a:t>Growth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faster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processing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large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datasets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1003" y="2690317"/>
            <a:ext cx="4269740" cy="27127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859790" marR="5080" indent="-847725">
              <a:lnSpc>
                <a:spcPct val="100400"/>
              </a:lnSpc>
              <a:spcBef>
                <a:spcPts val="55"/>
              </a:spcBef>
            </a:pPr>
            <a:r>
              <a:rPr sz="8800" spc="-290" dirty="0">
                <a:solidFill>
                  <a:srgbClr val="1E4E79"/>
                </a:solidFill>
                <a:latin typeface="Verdana"/>
                <a:cs typeface="Verdana"/>
              </a:rPr>
              <a:t>THANK </a:t>
            </a:r>
            <a:r>
              <a:rPr sz="8800" spc="-380" dirty="0">
                <a:solidFill>
                  <a:srgbClr val="1E4E79"/>
                </a:solidFill>
                <a:latin typeface="Verdana"/>
                <a:cs typeface="Verdana"/>
              </a:rPr>
              <a:t>YOU</a:t>
            </a:r>
            <a:endParaRPr sz="8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1424</Words>
  <Application>Microsoft Office PowerPoint</Application>
  <PresentationFormat>Widescreen</PresentationFormat>
  <Paragraphs>184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 MT</vt:lpstr>
      <vt:lpstr>Cambria Math</vt:lpstr>
      <vt:lpstr>Times New Roman</vt:lpstr>
      <vt:lpstr>Verdana</vt:lpstr>
      <vt:lpstr>Office Theme</vt:lpstr>
      <vt:lpstr>Final Project Review-3</vt:lpstr>
      <vt:lpstr>Outline</vt:lpstr>
      <vt:lpstr>Problem Formulation</vt:lpstr>
      <vt:lpstr>PowerPoint Presentation</vt:lpstr>
      <vt:lpstr>Literature Review</vt:lpstr>
      <vt:lpstr>PowerPoint Presentation</vt:lpstr>
      <vt:lpstr>PowerPoint Presentation</vt:lpstr>
      <vt:lpstr>Challenges and Risks</vt:lpstr>
      <vt:lpstr>Methodology</vt:lpstr>
      <vt:lpstr>PowerPoint Presentation</vt:lpstr>
      <vt:lpstr>PowerPoint Presentation</vt:lpstr>
      <vt:lpstr>Object Diagram</vt:lpstr>
      <vt:lpstr>Sequence Diagram</vt:lpstr>
      <vt:lpstr>Collaboration Diagram</vt:lpstr>
      <vt:lpstr>State Machine Diagram</vt:lpstr>
      <vt:lpstr>Activity Diagram</vt:lpstr>
      <vt:lpstr>Deployment Diagram</vt:lpstr>
      <vt:lpstr>Technology Requirements</vt:lpstr>
      <vt:lpstr>Hardware Requirements</vt:lpstr>
      <vt:lpstr> Final Results</vt:lpstr>
      <vt:lpstr>Final Results</vt:lpstr>
      <vt:lpstr> Final Results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Always Cherry</dc:creator>
  <cp:lastModifiedBy>vardhan sai Gadde</cp:lastModifiedBy>
  <cp:revision>1</cp:revision>
  <dcterms:created xsi:type="dcterms:W3CDTF">2026-03-23T06:21:48Z</dcterms:created>
  <dcterms:modified xsi:type="dcterms:W3CDTF">2026-03-23T06:48:41Z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2026-03-23T00:00:00Z</vt:filetime>
  </property>
  <property fmtid="{D5CDD505-2E9C-101B-9397-08002B2CF9AE}" pid="5" name="Producer">
    <vt:lpwstr>Microsoft® PowerPoint® for Microsoft 365</vt:lpwstr>
  </property>
</Properties>
</file>